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58"/>
  </p:notesMasterIdLst>
  <p:sldIdLst>
    <p:sldId id="303" r:id="rId2"/>
    <p:sldId id="258" r:id="rId3"/>
    <p:sldId id="259" r:id="rId4"/>
    <p:sldId id="260" r:id="rId5"/>
    <p:sldId id="261" r:id="rId6"/>
    <p:sldId id="304" r:id="rId7"/>
    <p:sldId id="305" r:id="rId8"/>
    <p:sldId id="306" r:id="rId9"/>
    <p:sldId id="307" r:id="rId10"/>
    <p:sldId id="308" r:id="rId11"/>
    <p:sldId id="309" r:id="rId12"/>
    <p:sldId id="310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315" r:id="rId38"/>
    <p:sldId id="286" r:id="rId39"/>
    <p:sldId id="314" r:id="rId40"/>
    <p:sldId id="287" r:id="rId41"/>
    <p:sldId id="288" r:id="rId42"/>
    <p:sldId id="289" r:id="rId43"/>
    <p:sldId id="290" r:id="rId44"/>
    <p:sldId id="291" r:id="rId45"/>
    <p:sldId id="292" r:id="rId46"/>
    <p:sldId id="293" r:id="rId47"/>
    <p:sldId id="294" r:id="rId48"/>
    <p:sldId id="295" r:id="rId49"/>
    <p:sldId id="296" r:id="rId50"/>
    <p:sldId id="297" r:id="rId51"/>
    <p:sldId id="298" r:id="rId52"/>
    <p:sldId id="299" r:id="rId53"/>
    <p:sldId id="313" r:id="rId54"/>
    <p:sldId id="300" r:id="rId55"/>
    <p:sldId id="301" r:id="rId56"/>
    <p:sldId id="302" r:id="rId57"/>
  </p:sldIdLst>
  <p:sldSz cx="12192000" cy="6858000"/>
  <p:notesSz cx="6858000" cy="9144000"/>
  <p:photoAlbum/>
  <p:custDataLst>
    <p:tags r:id="rId59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72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gs" Target="tags/tag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54F7F5-DF8B-4262-BF70-0663CF9C0849}" type="datetimeFigureOut">
              <a:rPr lang="en-US" smtClean="0"/>
              <a:t>11/29/2015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5FAD05-AE9E-4A58-A08E-94F2BDA1EF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7463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27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10035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638CAC9A-9559-4B5F-9ED8-78FE9D978032}" type="slidenum">
              <a:rPr lang="en-US" altLang="en-US">
                <a:latin typeface="Calibri" panose="020F0502020204030204" pitchFamily="34" charset="0"/>
              </a:rPr>
              <a:pPr eaLnBrk="1" hangingPunct="1"/>
              <a:t>1</a:t>
            </a:fld>
            <a:endParaRPr lang="en-US" altLang="en-US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86582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06816E-28A4-9E41-B4DB-1F5298F0487C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28168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06816E-28A4-9E41-B4DB-1F5298F0487C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0698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06816E-28A4-9E41-B4DB-1F5298F0487C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40029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06816E-28A4-9E41-B4DB-1F5298F0487C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04008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06816E-28A4-9E41-B4DB-1F5298F0487C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1232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06816E-28A4-9E41-B4DB-1F5298F0487C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6422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06816E-28A4-9E41-B4DB-1F5298F0487C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587167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06816E-28A4-9E41-B4DB-1F5298F0487C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2813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06816E-28A4-9E41-B4DB-1F5298F0487C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56586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06816E-28A4-9E41-B4DB-1F5298F0487C}" type="slidenum">
              <a:rPr lang="en-US" smtClean="0"/>
              <a:pPr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4591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0F7EE87-29F7-4E4A-AC97-DD9570708B56}" type="datetime1">
              <a:rPr lang="en-US" smtClean="0"/>
              <a:t>11/29/2015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71806B-9D81-4628-A586-10906DBB4F1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/>
        </p:nvSpPr>
        <p:spPr>
          <a:xfrm>
            <a:off x="304800" y="6637337"/>
            <a:ext cx="11582400" cy="1682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dirty="0">
                <a:latin typeface="Calibri" panose="020F0502020204030204" pitchFamily="34" charset="0"/>
              </a:rPr>
              <a:t>© Copyright 1992-2016 by Pearson Education,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2593467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C8AC526-D03C-4D0A-85D1-B50F3A627FBF}" type="datetime1">
              <a:rPr lang="en-US" smtClean="0"/>
              <a:t>11/29/2015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© Copyright 1992-2016 by Pearson Education, Inc. All Rights Reserved.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71806B-9D81-4628-A586-10906DBB4F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6221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202B8BA-6A8B-44D3-BB97-EFAF62143173}" type="datetime1">
              <a:rPr lang="en-US" smtClean="0"/>
              <a:t>11/29/2015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© Copyright 1992-2016 by Pearson Education, Inc. All Rights Reserved.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71806B-9D81-4628-A586-10906DBB4F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64354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310AF18-97FB-4071-A9D6-5E44178B31CC}" type="datetime1">
              <a:rPr lang="en-US" smtClean="0"/>
              <a:t>11/29/2015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© Copyright 1992-2016 by Pearson Education, Inc. All Rights Reserved.</a:t>
            </a: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71806B-9D81-4628-A586-10906DBB4F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4858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12086EB-2E40-4323-8D37-7D4D146B2D3A}" type="datetime1">
              <a:rPr lang="en-US" smtClean="0"/>
              <a:t>11/29/2015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© Copyright 1992-2016 by Pearson Education, Inc. All Rights Reserved.</a:t>
            </a: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71806B-9D81-4628-A586-10906DBB4F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06624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6627CAE-8F3B-42FF-A7AA-8014BE4BD4A5}" type="datetime1">
              <a:rPr lang="en-US" smtClean="0"/>
              <a:t>11/29/2015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© Copyright 1992-2016 by Pearson Education, Inc. All Rights Reserved.</a:t>
            </a: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71806B-9D81-4628-A586-10906DBB4F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3401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8712503-BE8F-45D7-91FF-1BF28FE33F26}" type="datetime1">
              <a:rPr lang="en-US" smtClean="0"/>
              <a:t>11/29/2015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4800" y="6616700"/>
            <a:ext cx="11582400" cy="168275"/>
          </a:xfrm>
        </p:spPr>
        <p:txBody>
          <a:bodyPr/>
          <a:lstStyle>
            <a:lvl1pPr>
              <a:defRPr dirty="0"/>
            </a:lvl1pPr>
          </a:lstStyle>
          <a:p>
            <a:r>
              <a:rPr lang="en-US" smtClean="0"/>
              <a:t>© Copyright 1992-2016 by Pearson Education, Inc. All Rights Reserved.</a:t>
            </a: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71806B-9D81-4628-A586-10906DBB4F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40864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B85E8-877B-43E9-BEB0-7DA2FDB74641}" type="datetime1">
              <a:rPr lang="en-US" smtClean="0"/>
              <a:t>11/29/2015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© Copyright 1992-2016 by Pearson Education, Inc. All Rights Reserved.</a:t>
            </a: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71806B-9D81-4628-A586-10906DBB4F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1329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F376E89-344E-46C3-9619-A0257D9A2AB3}" type="datetime1">
              <a:rPr lang="en-US" smtClean="0"/>
              <a:t>11/29/2015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© Copyright 1992-2016 by Pearson Education, Inc. All Rights Reserved.</a:t>
            </a: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71806B-9D81-4628-A586-10906DBB4F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0513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A34819F-9DB0-4B6F-B30B-C4F1793775C2}" type="datetime1">
              <a:rPr lang="en-US" smtClean="0"/>
              <a:t>11/29/2015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© Copyright 1992-2016 by Pearson Education, Inc. All Rights Reserved.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71806B-9D81-4628-A586-10906DBB4F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2941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313E848-713B-4261-815C-949B84E983AE}" type="datetime1">
              <a:rPr lang="en-US" smtClean="0"/>
              <a:t>11/29/2015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© Copyright 1992-2016 by Pearson Education, Inc. All Rights Reserved.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71806B-9D81-4628-A586-10906DBB4F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4210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>
            <a:lvl2pPr>
              <a:buFont typeface="Wingdings" pitchFamily="2" charset="2"/>
              <a:buChar char="§"/>
              <a:defRPr/>
            </a:lvl2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97EAD46-EBBF-45D9-BD9F-7AE7BD3DA1F5}" type="datetime1">
              <a:rPr lang="en-US" smtClean="0"/>
              <a:t>11/29/2015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71806B-9D81-4628-A586-10906DBB4F1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/>
        </p:nvSpPr>
        <p:spPr>
          <a:xfrm>
            <a:off x="304800" y="6637337"/>
            <a:ext cx="11582400" cy="1682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dirty="0">
                <a:latin typeface="Calibri" panose="020F0502020204030204" pitchFamily="34" charset="0"/>
              </a:rPr>
              <a:t>© Copyright 1992-2016 by Pearson Education,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40064440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 smtClean="0"/>
              <a:t>Click to edit Master title style</a:t>
            </a:r>
            <a:endParaRPr lang="en-US" altLang="en-US" dirty="0" smtClean="0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  <a:endParaRPr lang="en-US" alt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2BB270-51EC-487A-8388-3E0E536CEB26}" type="datetime1">
              <a:rPr lang="en-US" smtClean="0"/>
              <a:t>11/29/2015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hangingPunct="1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© Copyright 1992-2016 by Pearson Education, Inc. All Rights Reserved.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hangingPunct="1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71806B-9D81-4628-A586-10906DBB4F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8640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hf sldNum="0" hdr="0" dt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 b="0" i="0" u="none" kern="1200">
          <a:solidFill>
            <a:schemeClr val="tx1"/>
          </a:solidFill>
          <a:latin typeface="Calibri" panose="020F0502020204030204" pitchFamily="34" charset="0"/>
          <a:ea typeface="+mj-ea"/>
          <a:cs typeface="+mj-cs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1" fontAlgn="base" hangingPunct="1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b="0" i="0" u="none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www.google.com/design/spec/style/color.html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 smtClean="0">
                <a:solidFill>
                  <a:srgbClr val="3380E6"/>
                </a:solidFill>
                <a:latin typeface="Cambria" panose="02040503050406030204" pitchFamily="18" charset="0"/>
              </a:rPr>
              <a:t>Chapter 2</a:t>
            </a:r>
            <a:br>
              <a:rPr lang="en-US" dirty="0" smtClean="0">
                <a:solidFill>
                  <a:srgbClr val="3380E6"/>
                </a:solidFill>
                <a:latin typeface="Cambria" panose="02040503050406030204" pitchFamily="18" charset="0"/>
              </a:rPr>
            </a:br>
            <a:r>
              <a:rPr lang="en-US" b="1" dirty="0" smtClean="0">
                <a:solidFill>
                  <a:srgbClr val="3380E6"/>
                </a:solidFill>
                <a:latin typeface="+mn-lt"/>
              </a:rPr>
              <a:t>Welcome</a:t>
            </a:r>
            <a:r>
              <a:rPr lang="en-US" dirty="0" smtClean="0">
                <a:solidFill>
                  <a:srgbClr val="3380E6"/>
                </a:solidFill>
                <a:latin typeface="Cambria" panose="02040503050406030204" pitchFamily="18" charset="0"/>
              </a:rPr>
              <a:t> App</a:t>
            </a:r>
          </a:p>
        </p:txBody>
      </p:sp>
      <p:sp>
        <p:nvSpPr>
          <p:cNvPr id="10243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en-US" dirty="0" smtClean="0">
                <a:latin typeface="Cambria" panose="02040503050406030204" pitchFamily="18" charset="0"/>
              </a:rPr>
              <a:t>Android How to Program, 3/e</a:t>
            </a:r>
          </a:p>
        </p:txBody>
      </p:sp>
    </p:spTree>
    <p:extLst>
      <p:ext uri="{BB962C8B-B14F-4D97-AF65-F5344CB8AC3E}">
        <p14:creationId xmlns:p14="http://schemas.microsoft.com/office/powerpoint/2010/main" val="21534200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ndroidHTP_02_Page_02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4788"/>
            <a:ext cx="12192000" cy="64484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 Copyright 1992-2016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9830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ndroidHTP_02_Page_03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738" y="0"/>
            <a:ext cx="1004252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 Copyright 1992-2016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49155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ndroidHTP_02_Page_04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5913" y="0"/>
            <a:ext cx="9018587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 Copyright 1992-2016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7543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ndroidHTP_02_Page_05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0375" y="0"/>
            <a:ext cx="872966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 Copyright 1992-2016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2647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Technologies Overview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Android </a:t>
            </a:r>
            <a:r>
              <a:rPr lang="en-US" dirty="0"/>
              <a:t>Studio</a:t>
            </a:r>
          </a:p>
          <a:p>
            <a:pPr lvl="1"/>
            <a:r>
              <a:rPr lang="en-US" dirty="0" smtClean="0"/>
              <a:t>Create </a:t>
            </a:r>
            <a:r>
              <a:rPr lang="en-US" dirty="0"/>
              <a:t>a new </a:t>
            </a:r>
            <a:r>
              <a:rPr lang="en-US" dirty="0" smtClean="0"/>
              <a:t>app</a:t>
            </a:r>
          </a:p>
          <a:p>
            <a:pPr lvl="1"/>
            <a:r>
              <a:rPr lang="en-US" dirty="0" smtClean="0"/>
              <a:t>Default GUI </a:t>
            </a:r>
          </a:p>
          <a:p>
            <a:pPr lvl="1"/>
            <a:r>
              <a:rPr lang="en-US" dirty="0" smtClean="0"/>
              <a:t>Layout editor’s </a:t>
            </a:r>
            <a:r>
              <a:rPr lang="en-US" b="1" dirty="0" smtClean="0"/>
              <a:t>Design</a:t>
            </a:r>
            <a:r>
              <a:rPr lang="en-US" dirty="0" smtClean="0"/>
              <a:t> and </a:t>
            </a:r>
            <a:r>
              <a:rPr lang="en-US" b="1" dirty="0" smtClean="0"/>
              <a:t>Text</a:t>
            </a:r>
            <a:r>
              <a:rPr lang="en-US" dirty="0" smtClean="0"/>
              <a:t> views </a:t>
            </a:r>
          </a:p>
          <a:p>
            <a:pPr lvl="1"/>
            <a:r>
              <a:rPr lang="en-US" b="1" dirty="0" smtClean="0"/>
              <a:t>Properties </a:t>
            </a:r>
            <a:r>
              <a:rPr lang="en-US" dirty="0" smtClean="0"/>
              <a:t>window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 Copyright 1992-2016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9396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Technologies Overview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Views</a:t>
            </a:r>
          </a:p>
          <a:p>
            <a:pPr lvl="1"/>
            <a:r>
              <a:rPr lang="en-US" b="1" dirty="0" err="1"/>
              <a:t>TextView</a:t>
            </a:r>
            <a:endParaRPr lang="en-US" b="1" dirty="0"/>
          </a:p>
          <a:p>
            <a:pPr lvl="1"/>
            <a:r>
              <a:rPr lang="en-US" b="1" dirty="0" err="1" smtClean="0"/>
              <a:t>ImageView</a:t>
            </a:r>
            <a:endParaRPr lang="en-US" b="1" dirty="0" smtClean="0"/>
          </a:p>
          <a:p>
            <a:r>
              <a:rPr lang="en-US" dirty="0" smtClean="0"/>
              <a:t>Layout</a:t>
            </a:r>
          </a:p>
          <a:p>
            <a:pPr lvl="1"/>
            <a:r>
              <a:rPr lang="en-US" dirty="0"/>
              <a:t>V</a:t>
            </a:r>
            <a:r>
              <a:rPr lang="en-US" dirty="0" smtClean="0"/>
              <a:t>iew that contains </a:t>
            </a:r>
            <a:r>
              <a:rPr lang="en-US" dirty="0"/>
              <a:t>and </a:t>
            </a:r>
            <a:r>
              <a:rPr lang="en-US" dirty="0" smtClean="0"/>
              <a:t>arrange other views</a:t>
            </a:r>
          </a:p>
          <a:p>
            <a:pPr lvl="1"/>
            <a:r>
              <a:rPr lang="en-US" dirty="0" smtClean="0"/>
              <a:t>Vertical </a:t>
            </a:r>
            <a:r>
              <a:rPr lang="en-US" b="1" dirty="0" err="1"/>
              <a:t>LinearLayout</a:t>
            </a:r>
            <a:r>
              <a:rPr lang="en-US" b="1" dirty="0"/>
              <a:t> </a:t>
            </a:r>
            <a:endParaRPr lang="en-US" b="1" dirty="0" smtClean="0"/>
          </a:p>
          <a:p>
            <a:r>
              <a:rPr lang="en-US" dirty="0" smtClean="0"/>
              <a:t>Layout editor's </a:t>
            </a:r>
            <a:r>
              <a:rPr lang="en-US" b="1" dirty="0" smtClean="0"/>
              <a:t>Palette</a:t>
            </a:r>
            <a:r>
              <a:rPr lang="en-US" dirty="0" smtClean="0"/>
              <a:t> of views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 Copyright 1992-2016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6916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Technologies Overview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Extensible Markup Language (XML) </a:t>
            </a:r>
            <a:endParaRPr lang="en-US" dirty="0" smtClean="0"/>
          </a:p>
          <a:p>
            <a:r>
              <a:rPr lang="en-US" dirty="0" smtClean="0"/>
              <a:t>Human and  computer</a:t>
            </a:r>
            <a:r>
              <a:rPr lang="en-US" dirty="0"/>
              <a:t>-readable </a:t>
            </a:r>
            <a:endParaRPr lang="en-US" dirty="0" smtClean="0"/>
          </a:p>
          <a:p>
            <a:r>
              <a:rPr lang="en-US" dirty="0" smtClean="0"/>
              <a:t>Specify </a:t>
            </a:r>
            <a:r>
              <a:rPr lang="en-US" dirty="0"/>
              <a:t>the </a:t>
            </a:r>
            <a:r>
              <a:rPr lang="en-US" dirty="0" smtClean="0"/>
              <a:t>layouts and </a:t>
            </a:r>
            <a:r>
              <a:rPr lang="en-US" dirty="0"/>
              <a:t>components to use, as well as their </a:t>
            </a:r>
            <a:r>
              <a:rPr lang="en-US" dirty="0" smtClean="0"/>
              <a:t>attributes</a:t>
            </a:r>
          </a:p>
          <a:p>
            <a:r>
              <a:rPr lang="en-US" dirty="0" smtClean="0"/>
              <a:t>Android </a:t>
            </a:r>
            <a:r>
              <a:rPr lang="en-US" dirty="0"/>
              <a:t>Studio parses the XML to display your design in the </a:t>
            </a:r>
            <a:r>
              <a:rPr lang="en-US" dirty="0" smtClean="0"/>
              <a:t>layout editor</a:t>
            </a:r>
          </a:p>
          <a:p>
            <a:r>
              <a:rPr lang="en-US" dirty="0" smtClean="0"/>
              <a:t>XML also used for app </a:t>
            </a:r>
            <a:r>
              <a:rPr lang="en-US" dirty="0"/>
              <a:t>resources, such as strings, numbers and colors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 Copyright 1992-2016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383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Technologies Overview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Good practice—define </a:t>
            </a:r>
            <a:r>
              <a:rPr lang="en-US" dirty="0"/>
              <a:t>all strings, numeric values and other values in </a:t>
            </a:r>
            <a:r>
              <a:rPr lang="en-US" dirty="0" smtClean="0"/>
              <a:t>XML resource </a:t>
            </a:r>
            <a:r>
              <a:rPr lang="en-US" dirty="0"/>
              <a:t>files </a:t>
            </a:r>
            <a:endParaRPr lang="en-US" dirty="0" smtClean="0"/>
          </a:p>
          <a:p>
            <a:pPr lvl="1"/>
            <a:r>
              <a:rPr lang="en-US" dirty="0" smtClean="0"/>
              <a:t>Placed </a:t>
            </a:r>
            <a:r>
              <a:rPr lang="en-US" dirty="0"/>
              <a:t>in the subfolders of a project’s </a:t>
            </a:r>
            <a:r>
              <a:rPr lang="en-US" b="1" dirty="0"/>
              <a:t>res</a:t>
            </a:r>
            <a:r>
              <a:rPr lang="en-US" dirty="0"/>
              <a:t> </a:t>
            </a:r>
            <a:r>
              <a:rPr lang="en-US" dirty="0" smtClean="0"/>
              <a:t>folder</a:t>
            </a:r>
          </a:p>
          <a:p>
            <a:r>
              <a:rPr lang="en-US" dirty="0" smtClean="0"/>
              <a:t>Create </a:t>
            </a:r>
            <a:r>
              <a:rPr lang="en-US" dirty="0"/>
              <a:t>resources for </a:t>
            </a:r>
            <a:r>
              <a:rPr lang="en-US" dirty="0" smtClean="0"/>
              <a:t>strings and </a:t>
            </a:r>
            <a:r>
              <a:rPr lang="en-US" dirty="0"/>
              <a:t>measurements (</a:t>
            </a:r>
            <a:r>
              <a:rPr lang="en-US" dirty="0" smtClean="0"/>
              <a:t>such as </a:t>
            </a:r>
            <a:r>
              <a:rPr lang="en-US" dirty="0"/>
              <a:t>a font’s size</a:t>
            </a:r>
            <a:r>
              <a:rPr lang="en-US" dirty="0" smtClean="0"/>
              <a:t>)</a:t>
            </a:r>
          </a:p>
          <a:p>
            <a:r>
              <a:rPr lang="en-US" dirty="0" smtClean="0"/>
              <a:t>Color resources based on Google’s </a:t>
            </a:r>
            <a:r>
              <a:rPr lang="en-US" dirty="0"/>
              <a:t>Material Design color </a:t>
            </a:r>
            <a:r>
              <a:rPr lang="en-US" dirty="0" smtClean="0"/>
              <a:t>palette</a:t>
            </a:r>
          </a:p>
          <a:p>
            <a:pPr lvl="1"/>
            <a:r>
              <a:rPr lang="en-US" dirty="0">
                <a:solidFill>
                  <a:srgbClr val="0070C0"/>
                </a:solidFill>
                <a:hlinkClick r:id="rId3"/>
              </a:rPr>
              <a:t>http://</a:t>
            </a:r>
            <a:r>
              <a:rPr lang="en-US" dirty="0" smtClean="0">
                <a:solidFill>
                  <a:srgbClr val="0070C0"/>
                </a:solidFill>
                <a:hlinkClick r:id="rId3"/>
              </a:rPr>
              <a:t>www.google.com/design/spec/style/color.html</a:t>
            </a:r>
            <a:r>
              <a:rPr lang="en-US" dirty="0" smtClean="0">
                <a:solidFill>
                  <a:srgbClr val="0070C0"/>
                </a:solidFill>
              </a:rPr>
              <a:t> 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 Copyright 1992-2016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18531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Technologies Overview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Accessibility</a:t>
            </a:r>
          </a:p>
          <a:p>
            <a:pPr lvl="1"/>
            <a:r>
              <a:rPr lang="en-US" dirty="0" smtClean="0"/>
              <a:t>Help </a:t>
            </a:r>
            <a:r>
              <a:rPr lang="en-US" dirty="0"/>
              <a:t>people with certain disabilities use their </a:t>
            </a:r>
            <a:r>
              <a:rPr lang="en-US" dirty="0" smtClean="0"/>
              <a:t>devices</a:t>
            </a:r>
            <a:endParaRPr lang="en-US" dirty="0"/>
          </a:p>
          <a:p>
            <a:r>
              <a:rPr lang="en-US" dirty="0" err="1" smtClean="0"/>
              <a:t>TalkBack</a:t>
            </a:r>
            <a:r>
              <a:rPr lang="en-US" dirty="0" smtClean="0"/>
              <a:t> </a:t>
            </a:r>
          </a:p>
          <a:p>
            <a:pPr lvl="1"/>
            <a:r>
              <a:rPr lang="en-US" dirty="0" smtClean="0"/>
              <a:t>Speaks </a:t>
            </a:r>
            <a:r>
              <a:rPr lang="en-US" dirty="0"/>
              <a:t>screen text or text that you provide to help </a:t>
            </a:r>
            <a:r>
              <a:rPr lang="en-US" dirty="0" smtClean="0"/>
              <a:t>user understand </a:t>
            </a:r>
            <a:r>
              <a:rPr lang="en-US" dirty="0"/>
              <a:t>the purpose and </a:t>
            </a:r>
            <a:r>
              <a:rPr lang="en-US" dirty="0" smtClean="0"/>
              <a:t>contents of </a:t>
            </a:r>
            <a:r>
              <a:rPr lang="en-US" dirty="0"/>
              <a:t>a </a:t>
            </a:r>
            <a:r>
              <a:rPr lang="en-US" dirty="0" smtClean="0"/>
              <a:t>view</a:t>
            </a:r>
          </a:p>
          <a:p>
            <a:r>
              <a:rPr lang="en-US" dirty="0" smtClean="0"/>
              <a:t>Explore </a:t>
            </a:r>
            <a:r>
              <a:rPr lang="en-US" dirty="0"/>
              <a:t>by Touch </a:t>
            </a:r>
            <a:endParaRPr lang="en-US" dirty="0" smtClean="0"/>
          </a:p>
          <a:p>
            <a:pPr lvl="1"/>
            <a:r>
              <a:rPr lang="en-US" dirty="0" smtClean="0"/>
              <a:t>Enables </a:t>
            </a:r>
            <a:r>
              <a:rPr lang="en-US" dirty="0"/>
              <a:t>the user to touch the screen to </a:t>
            </a:r>
            <a:r>
              <a:rPr lang="en-US" dirty="0" smtClean="0"/>
              <a:t>hear </a:t>
            </a:r>
            <a:r>
              <a:rPr lang="en-US" dirty="0" err="1" smtClean="0"/>
              <a:t>TalkBack</a:t>
            </a:r>
            <a:r>
              <a:rPr lang="en-US" dirty="0" smtClean="0"/>
              <a:t> </a:t>
            </a:r>
            <a:r>
              <a:rPr lang="en-US" dirty="0"/>
              <a:t>speak what’s on the screen near the </a:t>
            </a:r>
            <a:r>
              <a:rPr lang="en-US" dirty="0" smtClean="0"/>
              <a:t>touch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 Copyright 1992-2016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50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Technologies Overview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To </a:t>
            </a:r>
            <a:r>
              <a:rPr lang="en-US" dirty="0"/>
              <a:t>reach </a:t>
            </a:r>
            <a:r>
              <a:rPr lang="en-US" dirty="0" smtClean="0"/>
              <a:t>the widest audience, consider </a:t>
            </a:r>
            <a:r>
              <a:rPr lang="en-US" dirty="0"/>
              <a:t>customizing </a:t>
            </a:r>
            <a:r>
              <a:rPr lang="en-US" dirty="0" smtClean="0"/>
              <a:t>apps for </a:t>
            </a:r>
            <a:r>
              <a:rPr lang="en-US" dirty="0"/>
              <a:t>various locales and spoken </a:t>
            </a:r>
            <a:r>
              <a:rPr lang="en-US" dirty="0" smtClean="0"/>
              <a:t>languages</a:t>
            </a:r>
          </a:p>
          <a:p>
            <a:r>
              <a:rPr lang="en-US" dirty="0" smtClean="0"/>
              <a:t>Internationalization</a:t>
            </a:r>
          </a:p>
          <a:p>
            <a:pPr lvl="1"/>
            <a:r>
              <a:rPr lang="en-US" dirty="0" smtClean="0"/>
              <a:t>Configuring </a:t>
            </a:r>
            <a:r>
              <a:rPr lang="en-US" dirty="0"/>
              <a:t>your </a:t>
            </a:r>
            <a:r>
              <a:rPr lang="en-US" dirty="0" smtClean="0"/>
              <a:t>app so </a:t>
            </a:r>
            <a:r>
              <a:rPr lang="en-US" dirty="0"/>
              <a:t>that it can be customized for various </a:t>
            </a:r>
            <a:r>
              <a:rPr lang="en-US" dirty="0" smtClean="0"/>
              <a:t>locales</a:t>
            </a:r>
            <a:endParaRPr lang="en-US" dirty="0"/>
          </a:p>
          <a:p>
            <a:r>
              <a:rPr lang="en-US" dirty="0" smtClean="0"/>
              <a:t>Localization</a:t>
            </a:r>
          </a:p>
          <a:p>
            <a:pPr lvl="1"/>
            <a:r>
              <a:rPr lang="en-US" dirty="0" smtClean="0"/>
              <a:t>Customizing for </a:t>
            </a:r>
            <a:r>
              <a:rPr lang="en-US" dirty="0"/>
              <a:t>a specific </a:t>
            </a:r>
          </a:p>
          <a:p>
            <a:r>
              <a:rPr lang="en-US" dirty="0" smtClean="0"/>
              <a:t>The </a:t>
            </a:r>
            <a:r>
              <a:rPr lang="en-US" dirty="0"/>
              <a:t>app on an AVD or device configured for </a:t>
            </a:r>
            <a:r>
              <a:rPr lang="en-US" dirty="0" smtClean="0"/>
              <a:t>Spanish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 Copyright 1992-2016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6468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840" dirty="0"/>
              <a:t>Scaled Pixels and Density-Independent Pixels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Density-independent (</a:t>
            </a:r>
            <a:r>
              <a:rPr lang="en-US" dirty="0" err="1" smtClean="0">
                <a:latin typeface="Consolas"/>
                <a:cs typeface="Consolas"/>
              </a:rPr>
              <a:t>dp</a:t>
            </a:r>
            <a:r>
              <a:rPr lang="en-US" dirty="0" smtClean="0"/>
              <a:t> or </a:t>
            </a:r>
            <a:r>
              <a:rPr lang="en-US" dirty="0" smtClean="0">
                <a:latin typeface="Consolas"/>
                <a:cs typeface="Consolas"/>
              </a:rPr>
              <a:t>dip</a:t>
            </a:r>
            <a:r>
              <a:rPr lang="en-US" dirty="0" smtClean="0"/>
              <a:t>)</a:t>
            </a:r>
          </a:p>
          <a:p>
            <a:pPr lvl="1"/>
            <a:r>
              <a:rPr lang="en-US" dirty="0" smtClean="0"/>
              <a:t>Views and other on-screen elements</a:t>
            </a:r>
          </a:p>
          <a:p>
            <a:r>
              <a:rPr lang="en-US" dirty="0"/>
              <a:t>Scale-independent (</a:t>
            </a:r>
            <a:r>
              <a:rPr lang="en-US" dirty="0" err="1">
                <a:latin typeface="Consolas"/>
                <a:cs typeface="Consolas"/>
              </a:rPr>
              <a:t>sp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Font sizes</a:t>
            </a:r>
          </a:p>
          <a:p>
            <a:pPr lvl="1"/>
            <a:r>
              <a:rPr lang="en-US" dirty="0"/>
              <a:t>Scale like </a:t>
            </a:r>
            <a:r>
              <a:rPr lang="en-US" dirty="0" err="1"/>
              <a:t>dp</a:t>
            </a:r>
            <a:r>
              <a:rPr lang="en-US" dirty="0"/>
              <a:t>, but also factor's in user's preferred font size</a:t>
            </a:r>
          </a:p>
          <a:p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 Copyright 1992-2016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587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ndroidHTP_02_Page_06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9463" y="0"/>
            <a:ext cx="80930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 Copyright 1992-2016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90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ndroidHTP_02_Page_07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84338"/>
            <a:ext cx="12192000" cy="348773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 Copyright 1992-2016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28386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ndroidHTP_02_Page_08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63750"/>
            <a:ext cx="12192000" cy="27305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 Copyright 1992-2016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73730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ndroidHTP_02_Page_09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5688" y="0"/>
            <a:ext cx="754062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 Copyright 1992-2016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269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ndroidHTP_02_Page_10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43000"/>
            <a:ext cx="12192000" cy="457041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 Copyright 1992-2016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0862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ndroidHTP_02_Page_11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0750" y="0"/>
            <a:ext cx="78105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 Copyright 1992-2016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6863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ndroidHTP_02_Page_12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50"/>
            <a:ext cx="12192000" cy="684371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 Copyright 1992-2016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4249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ndroidHTP_02_Page_13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4863" y="0"/>
            <a:ext cx="80422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 Copyright 1992-2016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6739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ndroidHTP_02_Page_14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0"/>
            <a:ext cx="10668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 Copyright 1992-2016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6769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ndroidHTP_02_Page_15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1025" y="0"/>
            <a:ext cx="848995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 Copyright 1992-2016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9751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ndroidHTP_02_Page_16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625" y="0"/>
            <a:ext cx="1107916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 Copyright 1992-2016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6670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ndroidHTP_02_Page_17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 Copyright 1992-2016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6693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ndroidHTP_02_Page_18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113" y="0"/>
            <a:ext cx="11406187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 Copyright 1992-2016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1607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ndroidHTP_02_Page_19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813" y="0"/>
            <a:ext cx="101123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 Copyright 1992-2016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8578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ndroidHTP_02_Page_20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4138"/>
            <a:ext cx="12192000" cy="66897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 Copyright 1992-2016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0196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ndroidHTP_02_Page_21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63588"/>
            <a:ext cx="12192000" cy="53308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 Copyright 1992-2016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6547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ndroidHTP_02_Page_22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390775"/>
            <a:ext cx="12192000" cy="207486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 Copyright 1992-2016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3402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ndroidHTP_02_Page_23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46288"/>
            <a:ext cx="12192000" cy="276383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 Copyright 1992-2016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8726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ndroidHTP_02_Page_24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5625" y="0"/>
            <a:ext cx="853916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 Copyright 1992-2016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375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ndroidHTP_02_Page_25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95463"/>
            <a:ext cx="12192000" cy="326548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 Copyright 1992-2016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43249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ndroidHTP_02_Page_26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62125"/>
            <a:ext cx="12192000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 Copyright 1992-2016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7814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ndroidHTP_02_Page_27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20763"/>
            <a:ext cx="12192000" cy="481647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 Copyright 1992-2016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0912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ndroidHTP_02_Page_28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700"/>
            <a:ext cx="12192000" cy="683101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 Copyright 1992-2016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9324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ndroidHTP_02_Page_29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46225"/>
            <a:ext cx="12192000" cy="376555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 Copyright 1992-2016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963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840" dirty="0"/>
              <a:t>Scaled Pixels and Density-Independent Pixels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sz="3840" dirty="0"/>
              <a:t>One density-independent pixel == one pixel on a 160-dpi screen</a:t>
            </a:r>
          </a:p>
          <a:p>
            <a:r>
              <a:rPr lang="en-US" sz="3840" dirty="0"/>
              <a:t>On a 240-dpi screen, each density-independent pixel will be scaled by a factor of 240/160 (i.e., 1.5) </a:t>
            </a:r>
          </a:p>
          <a:p>
            <a:pPr lvl="1"/>
            <a:r>
              <a:rPr lang="en-US" sz="3360" dirty="0"/>
              <a:t>100 density-independent pixels scales to 150 actual pixels</a:t>
            </a:r>
          </a:p>
          <a:p>
            <a:r>
              <a:rPr lang="en-US" sz="3840" dirty="0"/>
              <a:t>On a 120-dpi screen, each density-independent pixel is scaled by a factor of 120/160 (i.e., 0.75) </a:t>
            </a:r>
          </a:p>
          <a:p>
            <a:pPr lvl="1"/>
            <a:r>
              <a:rPr lang="en-US" sz="3360" dirty="0"/>
              <a:t>100 density-independent pixels scales to 75 actual pixels</a:t>
            </a:r>
          </a:p>
          <a:p>
            <a:r>
              <a:rPr lang="en-US" sz="3840" dirty="0">
                <a:solidFill>
                  <a:srgbClr val="0070C0"/>
                </a:solidFill>
              </a:rPr>
              <a:t>http://</a:t>
            </a:r>
            <a:r>
              <a:rPr lang="en-US" sz="3840" dirty="0" err="1">
                <a:solidFill>
                  <a:srgbClr val="0070C0"/>
                </a:solidFill>
              </a:rPr>
              <a:t>developer.android.com</a:t>
            </a:r>
            <a:r>
              <a:rPr lang="en-US" sz="3840" dirty="0">
                <a:solidFill>
                  <a:srgbClr val="0070C0"/>
                </a:solidFill>
              </a:rPr>
              <a:t>/guide/practices/</a:t>
            </a:r>
            <a:r>
              <a:rPr lang="en-US" sz="3840" dirty="0" err="1">
                <a:solidFill>
                  <a:srgbClr val="0070C0"/>
                </a:solidFill>
              </a:rPr>
              <a:t>screens_support.html</a:t>
            </a:r>
            <a:endParaRPr lang="en-US" sz="3840" dirty="0">
              <a:solidFill>
                <a:srgbClr val="0070C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 Copyright 1992-2016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4006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ndroidHTP_02_Page_30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36688"/>
            <a:ext cx="12192000" cy="398303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 Copyright 1992-2016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65118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Colors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RGB</a:t>
            </a:r>
          </a:p>
          <a:p>
            <a:pPr lvl="1"/>
            <a:r>
              <a:rPr lang="en-US" dirty="0" smtClean="0"/>
              <a:t>#RRGGBB</a:t>
            </a:r>
          </a:p>
          <a:p>
            <a:pPr lvl="1"/>
            <a:r>
              <a:rPr lang="en-US" dirty="0" smtClean="0"/>
              <a:t>#RGB</a:t>
            </a:r>
          </a:p>
          <a:p>
            <a:r>
              <a:rPr lang="en-US" dirty="0" smtClean="0"/>
              <a:t>ARGB</a:t>
            </a:r>
          </a:p>
          <a:p>
            <a:pPr lvl="1"/>
            <a:r>
              <a:rPr lang="en-US" dirty="0"/>
              <a:t>#</a:t>
            </a:r>
            <a:r>
              <a:rPr lang="en-US" dirty="0" smtClean="0"/>
              <a:t>AARRGGBB</a:t>
            </a:r>
          </a:p>
          <a:p>
            <a:pPr lvl="1"/>
            <a:r>
              <a:rPr lang="en-US" dirty="0" smtClean="0"/>
              <a:t>#ARGB</a:t>
            </a:r>
          </a:p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 Copyright 1992-2016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0296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ndroidHTP_02_Page_31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5100"/>
            <a:ext cx="12192000" cy="652621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 Copyright 1992-2016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364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ndroidHTP_02_Page_32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425" y="0"/>
            <a:ext cx="1123315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 Copyright 1992-2016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8423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ndroidHTP_02_Page_33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88" y="0"/>
            <a:ext cx="11984037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 Copyright 1992-2016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3759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ndroidHTP_02_Page_34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33363"/>
            <a:ext cx="12192000" cy="639127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 Copyright 1992-2016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8249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ndroidHTP_02_Page_35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17650"/>
            <a:ext cx="12192000" cy="382111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 Copyright 1992-2016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4071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ndroidHTP_02_Page_36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4738" y="0"/>
            <a:ext cx="750252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 Copyright 1992-2016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93968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ndroidHTP_02_Page_37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1888" y="0"/>
            <a:ext cx="738822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 Copyright 1992-2016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4986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ndroidHTP_02_Page_38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363" y="0"/>
            <a:ext cx="104552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 Copyright 1992-2016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2969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ndroidHTP_02_Page_39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8638" y="0"/>
            <a:ext cx="8593137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 Copyright 1992-2016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191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ndroidHTP_02_Page_40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4713" y="0"/>
            <a:ext cx="79025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 Copyright 1992-2016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0609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ndroidHTP_02_Page_41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3763" y="0"/>
            <a:ext cx="10402887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 Copyright 1992-2016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25020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ndroidHTP_02_Page_42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27075"/>
            <a:ext cx="12192000" cy="540226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 Copyright 1992-2016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4359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ndroidHTP_02_Page_43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5775" y="0"/>
            <a:ext cx="867886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 Copyright 1992-2016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50761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320" dirty="0"/>
              <a:t>Naming Folders for Localized Resources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Localized </a:t>
            </a:r>
            <a:r>
              <a:rPr lang="en-US" dirty="0"/>
              <a:t>strings </a:t>
            </a:r>
            <a:r>
              <a:rPr lang="en-US" dirty="0" smtClean="0"/>
              <a:t>placed in </a:t>
            </a:r>
            <a:r>
              <a:rPr lang="en-US" b="1" dirty="0" smtClean="0"/>
              <a:t>res</a:t>
            </a:r>
            <a:r>
              <a:rPr lang="en-US" dirty="0" smtClean="0"/>
              <a:t> subfolders</a:t>
            </a:r>
          </a:p>
          <a:p>
            <a:r>
              <a:rPr lang="en-US" dirty="0" smtClean="0"/>
              <a:t>Android uses resource folder qualifiers to automatically choose the </a:t>
            </a:r>
            <a:r>
              <a:rPr lang="en-US" dirty="0"/>
              <a:t>correct localized </a:t>
            </a:r>
            <a:r>
              <a:rPr lang="en-US" dirty="0" smtClean="0"/>
              <a:t>resources</a:t>
            </a:r>
          </a:p>
          <a:p>
            <a:pPr lvl="1"/>
            <a:r>
              <a:rPr lang="en-US" b="1" dirty="0" smtClean="0"/>
              <a:t>values</a:t>
            </a:r>
            <a:r>
              <a:rPr lang="en-US" b="1" dirty="0"/>
              <a:t>-</a:t>
            </a:r>
            <a:r>
              <a:rPr lang="en-US" b="1" dirty="0" err="1"/>
              <a:t>fr</a:t>
            </a:r>
            <a:r>
              <a:rPr lang="en-US" b="1" dirty="0"/>
              <a:t> </a:t>
            </a:r>
            <a:r>
              <a:rPr lang="en-US" dirty="0"/>
              <a:t>would contain </a:t>
            </a:r>
            <a:r>
              <a:rPr lang="en-US" b="1" dirty="0" err="1" smtClean="0"/>
              <a:t>strings.xml</a:t>
            </a:r>
            <a:r>
              <a:rPr lang="en-US" b="1" dirty="0" smtClean="0"/>
              <a:t> </a:t>
            </a:r>
            <a:r>
              <a:rPr lang="en-US" dirty="0" smtClean="0"/>
              <a:t>for </a:t>
            </a:r>
            <a:r>
              <a:rPr lang="en-US" dirty="0"/>
              <a:t>French </a:t>
            </a:r>
            <a:endParaRPr lang="en-US" dirty="0" smtClean="0"/>
          </a:p>
          <a:p>
            <a:pPr lvl="1"/>
            <a:r>
              <a:rPr lang="en-US" b="1" dirty="0" smtClean="0"/>
              <a:t>values</a:t>
            </a:r>
            <a:r>
              <a:rPr lang="en-US" b="1" dirty="0"/>
              <a:t>-</a:t>
            </a:r>
            <a:r>
              <a:rPr lang="en-US" b="1" dirty="0" err="1"/>
              <a:t>es</a:t>
            </a:r>
            <a:r>
              <a:rPr lang="en-US" b="1" dirty="0"/>
              <a:t> </a:t>
            </a:r>
            <a:r>
              <a:rPr lang="en-US" dirty="0"/>
              <a:t>would contain </a:t>
            </a:r>
            <a:r>
              <a:rPr lang="en-US" b="1" dirty="0" err="1" smtClean="0"/>
              <a:t>strings.xml</a:t>
            </a:r>
            <a:r>
              <a:rPr lang="en-US" dirty="0" smtClean="0"/>
              <a:t> for Spanish</a:t>
            </a:r>
          </a:p>
          <a:p>
            <a:r>
              <a:rPr lang="en-US" dirty="0" smtClean="0"/>
              <a:t>May also include region information</a:t>
            </a:r>
          </a:p>
          <a:p>
            <a:pPr lvl="1"/>
            <a:r>
              <a:rPr lang="en-US" b="1" dirty="0" smtClean="0"/>
              <a:t>values-en-</a:t>
            </a:r>
            <a:r>
              <a:rPr lang="en-US" b="1" dirty="0" err="1" smtClean="0"/>
              <a:t>rUS</a:t>
            </a:r>
            <a:r>
              <a:rPr lang="en-US" b="1" dirty="0" smtClean="0"/>
              <a:t> </a:t>
            </a:r>
            <a:r>
              <a:rPr lang="en-US" dirty="0" smtClean="0"/>
              <a:t>would contain </a:t>
            </a:r>
            <a:r>
              <a:rPr lang="en-US" b="1" dirty="0" err="1" smtClean="0"/>
              <a:t>strings.xml</a:t>
            </a:r>
            <a:r>
              <a:rPr lang="en-US" b="1" dirty="0" smtClean="0"/>
              <a:t> </a:t>
            </a:r>
            <a:r>
              <a:rPr lang="en-US" dirty="0" smtClean="0"/>
              <a:t>for U.S. English </a:t>
            </a:r>
          </a:p>
          <a:p>
            <a:pPr lvl="1"/>
            <a:r>
              <a:rPr lang="en-US" b="1" dirty="0" smtClean="0"/>
              <a:t>values-en-</a:t>
            </a:r>
            <a:r>
              <a:rPr lang="en-US" b="1" dirty="0" err="1" smtClean="0"/>
              <a:t>rGB</a:t>
            </a:r>
            <a:r>
              <a:rPr lang="en-US" b="1" dirty="0" smtClean="0"/>
              <a:t> </a:t>
            </a:r>
            <a:r>
              <a:rPr lang="en-US" dirty="0" smtClean="0"/>
              <a:t>would contain </a:t>
            </a:r>
            <a:r>
              <a:rPr lang="en-US" b="1" dirty="0" err="1"/>
              <a:t>strings.xml</a:t>
            </a:r>
            <a:r>
              <a:rPr lang="en-US" dirty="0"/>
              <a:t> </a:t>
            </a:r>
            <a:r>
              <a:rPr lang="en-US" dirty="0" smtClean="0"/>
              <a:t>for U.K. English</a:t>
            </a:r>
          </a:p>
          <a:p>
            <a:r>
              <a:rPr lang="en-US" dirty="0" smtClean="0"/>
              <a:t>Default resources used if localized ones not found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 Copyright 1992-2016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298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ndroidHTP_02_Page_44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90575"/>
            <a:ext cx="12192000" cy="527526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 Copyright 1992-2016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106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ndroidHTP_02_Page_45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7613" y="0"/>
            <a:ext cx="97567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 Copyright 1992-2016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59347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ndroidHTP_02_Page_46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1963" y="0"/>
            <a:ext cx="87280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 Copyright 1992-2016 by Pearson Education, Inc.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99028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DATA" val="&lt;database version=&quot;9.0&quot;&gt;&lt;object type=&quot;1&quot; unique_id=&quot;10001&quot;&gt;&lt;object type=&quot;8&quot; unique_id=&quot;10002&quot;&gt;&lt;/object&gt;&lt;object type=&quot;2&quot; unique_id=&quot;10003&quot;&gt;&lt;object type=&quot;3&quot; unique_id=&quot;10006&quot;&gt;&lt;property id=&quot;20148&quot; value=&quot;5&quot;/&gt;&lt;property id=&quot;20300&quot; value=&quot;Slide 2&quot;/&gt;&lt;property id=&quot;20307&quot; value=&quot;258&quot;/&gt;&lt;/object&gt;&lt;object type=&quot;3&quot; unique_id=&quot;10007&quot;&gt;&lt;property id=&quot;20148&quot; value=&quot;5&quot;/&gt;&lt;property id=&quot;20300&quot; value=&quot;Slide 3&quot;/&gt;&lt;property id=&quot;20307&quot; value=&quot;259&quot;/&gt;&lt;/object&gt;&lt;object type=&quot;3&quot; unique_id=&quot;10008&quot;&gt;&lt;property id=&quot;20148&quot; value=&quot;5&quot;/&gt;&lt;property id=&quot;20300&quot; value=&quot;Slide 4&quot;/&gt;&lt;property id=&quot;20307&quot; value=&quot;260&quot;/&gt;&lt;/object&gt;&lt;object type=&quot;3&quot; unique_id=&quot;10009&quot;&gt;&lt;property id=&quot;20148&quot; value=&quot;5&quot;/&gt;&lt;property id=&quot;20300&quot; value=&quot;Slide 5&quot;/&gt;&lt;property id=&quot;20307&quot; value=&quot;261&quot;/&gt;&lt;/object&gt;&lt;object type=&quot;3&quot; unique_id=&quot;10010&quot;&gt;&lt;property id=&quot;20148&quot; value=&quot;5&quot;/&gt;&lt;property id=&quot;20300&quot; value=&quot;Slide 13&quot;/&gt;&lt;property id=&quot;20307&quot; value=&quot;262&quot;/&gt;&lt;/object&gt;&lt;object type=&quot;3&quot; unique_id=&quot;10011&quot;&gt;&lt;property id=&quot;20148&quot; value=&quot;5&quot;/&gt;&lt;property id=&quot;20300&quot; value=&quot;Slide 14&quot;/&gt;&lt;property id=&quot;20307&quot; value=&quot;263&quot;/&gt;&lt;/object&gt;&lt;object type=&quot;3&quot; unique_id=&quot;10012&quot;&gt;&lt;property id=&quot;20148&quot; value=&quot;5&quot;/&gt;&lt;property id=&quot;20300&quot; value=&quot;Slide 15&quot;/&gt;&lt;property id=&quot;20307&quot; value=&quot;264&quot;/&gt;&lt;/object&gt;&lt;object type=&quot;3&quot; unique_id=&quot;10013&quot;&gt;&lt;property id=&quot;20148&quot; value=&quot;5&quot;/&gt;&lt;property id=&quot;20300&quot; value=&quot;Slide 16&quot;/&gt;&lt;property id=&quot;20307&quot; value=&quot;265&quot;/&gt;&lt;/object&gt;&lt;object type=&quot;3&quot; unique_id=&quot;10014&quot;&gt;&lt;property id=&quot;20148&quot; value=&quot;5&quot;/&gt;&lt;property id=&quot;20300&quot; value=&quot;Slide 17&quot;/&gt;&lt;property id=&quot;20307&quot; value=&quot;266&quot;/&gt;&lt;/object&gt;&lt;object type=&quot;3&quot; unique_id=&quot;10015&quot;&gt;&lt;property id=&quot;20148&quot; value=&quot;5&quot;/&gt;&lt;property id=&quot;20300&quot; value=&quot;Slide 18&quot;/&gt;&lt;property id=&quot;20307&quot; value=&quot;267&quot;/&gt;&lt;/object&gt;&lt;object type=&quot;3&quot; unique_id=&quot;10016&quot;&gt;&lt;property id=&quot;20148&quot; value=&quot;5&quot;/&gt;&lt;property id=&quot;20300&quot; value=&quot;Slide 19&quot;/&gt;&lt;property id=&quot;20307&quot; value=&quot;268&quot;/&gt;&lt;/object&gt;&lt;object type=&quot;3&quot; unique_id=&quot;10017&quot;&gt;&lt;property id=&quot;20148&quot; value=&quot;5&quot;/&gt;&lt;property id=&quot;20300&quot; value=&quot;Slide 20&quot;/&gt;&lt;property id=&quot;20307&quot; value=&quot;269&quot;/&gt;&lt;/object&gt;&lt;object type=&quot;3&quot; unique_id=&quot;10018&quot;&gt;&lt;property id=&quot;20148&quot; value=&quot;5&quot;/&gt;&lt;property id=&quot;20300&quot; value=&quot;Slide 21&quot;/&gt;&lt;property id=&quot;20307&quot; value=&quot;270&quot;/&gt;&lt;/object&gt;&lt;object type=&quot;3&quot; unique_id=&quot;10019&quot;&gt;&lt;property id=&quot;20148&quot; value=&quot;5&quot;/&gt;&lt;property id=&quot;20300&quot; value=&quot;Slide 22&quot;/&gt;&lt;property id=&quot;20307&quot; value=&quot;271&quot;/&gt;&lt;/object&gt;&lt;object type=&quot;3&quot; unique_id=&quot;10020&quot;&gt;&lt;property id=&quot;20148&quot; value=&quot;5&quot;/&gt;&lt;property id=&quot;20300&quot; value=&quot;Slide 23&quot;/&gt;&lt;property id=&quot;20307&quot; value=&quot;272&quot;/&gt;&lt;/object&gt;&lt;object type=&quot;3&quot; unique_id=&quot;10021&quot;&gt;&lt;property id=&quot;20148&quot; value=&quot;5&quot;/&gt;&lt;property id=&quot;20300&quot; value=&quot;Slide 24&quot;/&gt;&lt;property id=&quot;20307&quot; value=&quot;273&quot;/&gt;&lt;/object&gt;&lt;object type=&quot;3&quot; unique_id=&quot;10022&quot;&gt;&lt;property id=&quot;20148&quot; value=&quot;5&quot;/&gt;&lt;property id=&quot;20300&quot; value=&quot;Slide 25&quot;/&gt;&lt;property id=&quot;20307&quot; value=&quot;274&quot;/&gt;&lt;/object&gt;&lt;object type=&quot;3&quot; unique_id=&quot;10023&quot;&gt;&lt;property id=&quot;20148&quot; value=&quot;5&quot;/&gt;&lt;property id=&quot;20300&quot; value=&quot;Slide 26&quot;/&gt;&lt;property id=&quot;20307&quot; value=&quot;275&quot;/&gt;&lt;/object&gt;&lt;object type=&quot;3&quot; unique_id=&quot;10024&quot;&gt;&lt;property id=&quot;20148&quot; value=&quot;5&quot;/&gt;&lt;property id=&quot;20300&quot; value=&quot;Slide 27&quot;/&gt;&lt;property id=&quot;20307&quot; value=&quot;276&quot;/&gt;&lt;/object&gt;&lt;object type=&quot;3&quot; unique_id=&quot;10025&quot;&gt;&lt;property id=&quot;20148&quot; value=&quot;5&quot;/&gt;&lt;property id=&quot;20300&quot; value=&quot;Slide 28&quot;/&gt;&lt;property id=&quot;20307&quot; value=&quot;277&quot;/&gt;&lt;/object&gt;&lt;object type=&quot;3&quot; unique_id=&quot;10026&quot;&gt;&lt;property id=&quot;20148&quot; value=&quot;5&quot;/&gt;&lt;property id=&quot;20300&quot; value=&quot;Slide 29&quot;/&gt;&lt;property id=&quot;20307&quot; value=&quot;278&quot;/&gt;&lt;/object&gt;&lt;object type=&quot;3&quot; unique_id=&quot;10027&quot;&gt;&lt;property id=&quot;20148&quot; value=&quot;5&quot;/&gt;&lt;property id=&quot;20300&quot; value=&quot;Slide 30&quot;/&gt;&lt;property id=&quot;20307&quot; value=&quot;279&quot;/&gt;&lt;/object&gt;&lt;object type=&quot;3&quot; unique_id=&quot;10028&quot;&gt;&lt;property id=&quot;20148&quot; value=&quot;5&quot;/&gt;&lt;property id=&quot;20300&quot; value=&quot;Slide 31&quot;/&gt;&lt;property id=&quot;20307&quot; value=&quot;280&quot;/&gt;&lt;/object&gt;&lt;object type=&quot;3&quot; unique_id=&quot;10029&quot;&gt;&lt;property id=&quot;20148&quot; value=&quot;5&quot;/&gt;&lt;property id=&quot;20300&quot; value=&quot;Slide 32&quot;/&gt;&lt;property id=&quot;20307&quot; value=&quot;281&quot;/&gt;&lt;/object&gt;&lt;object type=&quot;3&quot; unique_id=&quot;10030&quot;&gt;&lt;property id=&quot;20148&quot; value=&quot;5&quot;/&gt;&lt;property id=&quot;20300&quot; value=&quot;Slide 33&quot;/&gt;&lt;property id=&quot;20307&quot; value=&quot;282&quot;/&gt;&lt;/object&gt;&lt;object type=&quot;3&quot; unique_id=&quot;10031&quot;&gt;&lt;property id=&quot;20148&quot; value=&quot;5&quot;/&gt;&lt;property id=&quot;20300&quot; value=&quot;Slide 34&quot;/&gt;&lt;property id=&quot;20307&quot; value=&quot;283&quot;/&gt;&lt;/object&gt;&lt;object type=&quot;3&quot; unique_id=&quot;10032&quot;&gt;&lt;property id=&quot;20148&quot; value=&quot;5&quot;/&gt;&lt;property id=&quot;20300&quot; value=&quot;Slide 35&quot;/&gt;&lt;property id=&quot;20307&quot; value=&quot;284&quot;/&gt;&lt;/object&gt;&lt;object type=&quot;3&quot; unique_id=&quot;10033&quot;&gt;&lt;property id=&quot;20148&quot; value=&quot;5&quot;/&gt;&lt;property id=&quot;20300&quot; value=&quot;Slide 36&quot;/&gt;&lt;property id=&quot;20307&quot; value=&quot;285&quot;/&gt;&lt;/object&gt;&lt;object type=&quot;3&quot; unique_id=&quot;10034&quot;&gt;&lt;property id=&quot;20148&quot; value=&quot;5&quot;/&gt;&lt;property id=&quot;20300&quot; value=&quot;Slide 38&quot;/&gt;&lt;property id=&quot;20307&quot; value=&quot;286&quot;/&gt;&lt;/object&gt;&lt;object type=&quot;3&quot; unique_id=&quot;10035&quot;&gt;&lt;property id=&quot;20148&quot; value=&quot;5&quot;/&gt;&lt;property id=&quot;20300&quot; value=&quot;Slide 40&quot;/&gt;&lt;property id=&quot;20307&quot; value=&quot;287&quot;/&gt;&lt;/object&gt;&lt;object type=&quot;3&quot; unique_id=&quot;10036&quot;&gt;&lt;property id=&quot;20148&quot; value=&quot;5&quot;/&gt;&lt;property id=&quot;20300&quot; value=&quot;Slide 41&quot;/&gt;&lt;property id=&quot;20307&quot; value=&quot;288&quot;/&gt;&lt;/object&gt;&lt;object type=&quot;3&quot; unique_id=&quot;10037&quot;&gt;&lt;property id=&quot;20148&quot; value=&quot;5&quot;/&gt;&lt;property id=&quot;20300&quot; value=&quot;Slide 42&quot;/&gt;&lt;property id=&quot;20307&quot; value=&quot;289&quot;/&gt;&lt;/object&gt;&lt;object type=&quot;3&quot; unique_id=&quot;10038&quot;&gt;&lt;property id=&quot;20148&quot; value=&quot;5&quot;/&gt;&lt;property id=&quot;20300&quot; value=&quot;Slide 43&quot;/&gt;&lt;property id=&quot;20307&quot; value=&quot;290&quot;/&gt;&lt;/object&gt;&lt;object type=&quot;3&quot; unique_id=&quot;10039&quot;&gt;&lt;property id=&quot;20148&quot; value=&quot;5&quot;/&gt;&lt;property id=&quot;20300&quot; value=&quot;Slide 44&quot;/&gt;&lt;property id=&quot;20307&quot; value=&quot;291&quot;/&gt;&lt;/object&gt;&lt;object type=&quot;3&quot; unique_id=&quot;10040&quot;&gt;&lt;property id=&quot;20148&quot; value=&quot;5&quot;/&gt;&lt;property id=&quot;20300&quot; value=&quot;Slide 45&quot;/&gt;&lt;property id=&quot;20307&quot; value=&quot;292&quot;/&gt;&lt;/object&gt;&lt;object type=&quot;3&quot; unique_id=&quot;10041&quot;&gt;&lt;property id=&quot;20148&quot; value=&quot;5&quot;/&gt;&lt;property id=&quot;20300&quot; value=&quot;Slide 46&quot;/&gt;&lt;property id=&quot;20307&quot; value=&quot;293&quot;/&gt;&lt;/object&gt;&lt;object type=&quot;3&quot; unique_id=&quot;10042&quot;&gt;&lt;property id=&quot;20148&quot; value=&quot;5&quot;/&gt;&lt;property id=&quot;20300&quot; value=&quot;Slide 47&quot;/&gt;&lt;property id=&quot;20307&quot; value=&quot;294&quot;/&gt;&lt;/object&gt;&lt;object type=&quot;3&quot; unique_id=&quot;10043&quot;&gt;&lt;property id=&quot;20148&quot; value=&quot;5&quot;/&gt;&lt;property id=&quot;20300&quot; value=&quot;Slide 48&quot;/&gt;&lt;property id=&quot;20307&quot; value=&quot;295&quot;/&gt;&lt;/object&gt;&lt;object type=&quot;3&quot; unique_id=&quot;10044&quot;&gt;&lt;property id=&quot;20148&quot; value=&quot;5&quot;/&gt;&lt;property id=&quot;20300&quot; value=&quot;Slide 49&quot;/&gt;&lt;property id=&quot;20307&quot; value=&quot;296&quot;/&gt;&lt;/object&gt;&lt;object type=&quot;3&quot; unique_id=&quot;10045&quot;&gt;&lt;property id=&quot;20148&quot; value=&quot;5&quot;/&gt;&lt;property id=&quot;20300&quot; value=&quot;Slide 50&quot;/&gt;&lt;property id=&quot;20307&quot; value=&quot;297&quot;/&gt;&lt;/object&gt;&lt;object type=&quot;3&quot; unique_id=&quot;10046&quot;&gt;&lt;property id=&quot;20148&quot; value=&quot;5&quot;/&gt;&lt;property id=&quot;20300&quot; value=&quot;Slide 51&quot;/&gt;&lt;property id=&quot;20307&quot; value=&quot;298&quot;/&gt;&lt;/object&gt;&lt;object type=&quot;3&quot; unique_id=&quot;10047&quot;&gt;&lt;property id=&quot;20148&quot; value=&quot;5&quot;/&gt;&lt;property id=&quot;20300&quot; value=&quot;Slide 52&quot;/&gt;&lt;property id=&quot;20307&quot; value=&quot;299&quot;/&gt;&lt;/object&gt;&lt;object type=&quot;3&quot; unique_id=&quot;10048&quot;&gt;&lt;property id=&quot;20148&quot; value=&quot;5&quot;/&gt;&lt;property id=&quot;20300&quot; value=&quot;Slide 54&quot;/&gt;&lt;property id=&quot;20307&quot; value=&quot;300&quot;/&gt;&lt;/object&gt;&lt;object type=&quot;3&quot; unique_id=&quot;10049&quot;&gt;&lt;property id=&quot;20148&quot; value=&quot;5&quot;/&gt;&lt;property id=&quot;20300&quot; value=&quot;Slide 55&quot;/&gt;&lt;property id=&quot;20307&quot; value=&quot;301&quot;/&gt;&lt;/object&gt;&lt;object type=&quot;3&quot; unique_id=&quot;10050&quot;&gt;&lt;property id=&quot;20148&quot; value=&quot;5&quot;/&gt;&lt;property id=&quot;20300&quot; value=&quot;Slide 56&quot;/&gt;&lt;property id=&quot;20307&quot; value=&quot;302&quot;/&gt;&lt;/object&gt;&lt;object type=&quot;3&quot; unique_id=&quot;13463&quot;&gt;&lt;property id=&quot;20148&quot; value=&quot;5&quot;/&gt;&lt;property id=&quot;20300&quot; value=&quot;Slide 1 - &amp;quot;Chapter 2 Welcome App&amp;quot;&quot;/&gt;&lt;property id=&quot;20307&quot; value=&quot;303&quot;/&gt;&lt;/object&gt;&lt;object type=&quot;3&quot; unique_id=&quot;14284&quot;&gt;&lt;property id=&quot;20148&quot; value=&quot;5&quot;/&gt;&lt;property id=&quot;20300&quot; value=&quot;Slide 6 - &amp;quot;Technologies Overview&amp;quot;&quot;/&gt;&lt;property id=&quot;20307&quot; value=&quot;304&quot;/&gt;&lt;/object&gt;&lt;object type=&quot;3&quot; unique_id=&quot;14285&quot;&gt;&lt;property id=&quot;20148&quot; value=&quot;5&quot;/&gt;&lt;property id=&quot;20300&quot; value=&quot;Slide 7 - &amp;quot;Technologies Overview&amp;quot;&quot;/&gt;&lt;property id=&quot;20307&quot; value=&quot;305&quot;/&gt;&lt;/object&gt;&lt;object type=&quot;3&quot; unique_id=&quot;14286&quot;&gt;&lt;property id=&quot;20148&quot; value=&quot;5&quot;/&gt;&lt;property id=&quot;20300&quot; value=&quot;Slide 8 - &amp;quot;Technologies Overview&amp;quot;&quot;/&gt;&lt;property id=&quot;20307&quot; value=&quot;306&quot;/&gt;&lt;/object&gt;&lt;object type=&quot;3&quot; unique_id=&quot;14287&quot;&gt;&lt;property id=&quot;20148&quot; value=&quot;5&quot;/&gt;&lt;property id=&quot;20300&quot; value=&quot;Slide 9 - &amp;quot;Technologies Overview&amp;quot;&quot;/&gt;&lt;property id=&quot;20307&quot; value=&quot;307&quot;/&gt;&lt;/object&gt;&lt;object type=&quot;3&quot; unique_id=&quot;14288&quot;&gt;&lt;property id=&quot;20148&quot; value=&quot;5&quot;/&gt;&lt;property id=&quot;20300&quot; value=&quot;Slide 10 - &amp;quot;Technologies Overview&amp;quot;&quot;/&gt;&lt;property id=&quot;20307&quot; value=&quot;308&quot;/&gt;&lt;/object&gt;&lt;object type=&quot;3&quot; unique_id=&quot;14289&quot;&gt;&lt;property id=&quot;20148&quot; value=&quot;5&quot;/&gt;&lt;property id=&quot;20300&quot; value=&quot;Slide 11 - &amp;quot;Technologies Overview&amp;quot;&quot;/&gt;&lt;property id=&quot;20307&quot; value=&quot;309&quot;/&gt;&lt;/object&gt;&lt;object type=&quot;3&quot; unique_id=&quot;14290&quot;&gt;&lt;property id=&quot;20148&quot; value=&quot;5&quot;/&gt;&lt;property id=&quot;20300&quot; value=&quot;Slide 12 - &amp;quot;Scaled Pixels and Density-Independent Pixels&amp;quot;&quot;/&gt;&lt;property id=&quot;20307&quot; value=&quot;310&quot;/&gt;&lt;/object&gt;&lt;object type=&quot;3&quot; unique_id=&quot;14291&quot;&gt;&lt;property id=&quot;20148&quot; value=&quot;5&quot;/&gt;&lt;property id=&quot;20300&quot; value=&quot;Slide 37 - &amp;quot;Scaled Pixels and Density-Independent Pixels&amp;quot;&quot;/&gt;&lt;property id=&quot;20307&quot; value=&quot;315&quot;/&gt;&lt;/object&gt;&lt;object type=&quot;3&quot; unique_id=&quot;14292&quot;&gt;&lt;property id=&quot;20148&quot; value=&quot;5&quot;/&gt;&lt;property id=&quot;20300&quot; value=&quot;Slide 39 - &amp;quot;Colors&amp;quot;&quot;/&gt;&lt;property id=&quot;20307&quot; value=&quot;314&quot;/&gt;&lt;/object&gt;&lt;object type=&quot;3&quot; unique_id=&quot;14293&quot;&gt;&lt;property id=&quot;20148&quot; value=&quot;5&quot;/&gt;&lt;property id=&quot;20300&quot; value=&quot;Slide 53 - &amp;quot;Naming Folders for Localized Resources&amp;quot;&quot;/&gt;&lt;property id=&quot;20307&quot; value=&quot;313&quot;/&gt;&lt;/object&gt;&lt;/object&gt;&lt;/object&gt;&lt;/database&gt;"/>
  <p:tag name="SECTOMILLISECCONVERTED" val="1"/>
</p:tagLst>
</file>

<file path=ppt/theme/theme1.xml><?xml version="1.0" encoding="utf-8"?>
<a:theme xmlns:a="http://schemas.openxmlformats.org/drawingml/2006/main" name="AndroidHTP3_AppA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AndroidHTP3_AppA</Template>
  <TotalTime>1107</TotalTime>
  <Words>1154</Words>
  <Application>Microsoft Office PowerPoint</Application>
  <PresentationFormat>Widescreen</PresentationFormat>
  <Paragraphs>137</Paragraphs>
  <Slides>56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63" baseType="lpstr">
      <vt:lpstr>Arial</vt:lpstr>
      <vt:lpstr>Calibri</vt:lpstr>
      <vt:lpstr>Calibri Light</vt:lpstr>
      <vt:lpstr>Cambria</vt:lpstr>
      <vt:lpstr>Consolas</vt:lpstr>
      <vt:lpstr>Wingdings</vt:lpstr>
      <vt:lpstr>AndroidHTP3_AppA</vt:lpstr>
      <vt:lpstr>Chapter 2 Welcome App</vt:lpstr>
      <vt:lpstr>PowerPoint Presentation</vt:lpstr>
      <vt:lpstr>PowerPoint Presentation</vt:lpstr>
      <vt:lpstr>PowerPoint Presentation</vt:lpstr>
      <vt:lpstr>PowerPoint Presentation</vt:lpstr>
      <vt:lpstr>Technologies Overview</vt:lpstr>
      <vt:lpstr>Technologies Overview</vt:lpstr>
      <vt:lpstr>Technologies Overview</vt:lpstr>
      <vt:lpstr>Technologies Overview</vt:lpstr>
      <vt:lpstr>Technologies Overview</vt:lpstr>
      <vt:lpstr>Technologies Overview</vt:lpstr>
      <vt:lpstr>Scaled Pixels and Density-Independent Pixels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Scaled Pixels and Density-Independent Pixels</vt:lpstr>
      <vt:lpstr>PowerPoint Presentation</vt:lpstr>
      <vt:lpstr>Colors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Naming Folders for Localized Resources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Photo Album</dc:title>
  <dc:creator>Paul</dc:creator>
  <cp:lastModifiedBy>Paul</cp:lastModifiedBy>
  <cp:revision>5</cp:revision>
  <dcterms:created xsi:type="dcterms:W3CDTF">2015-11-24T19:46:55Z</dcterms:created>
  <dcterms:modified xsi:type="dcterms:W3CDTF">2015-11-29T15:36:16Z</dcterms:modified>
</cp:coreProperties>
</file>